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261" r:id="rId3"/>
    <p:sldId id="263" r:id="rId4"/>
    <p:sldId id="264" r:id="rId5"/>
    <p:sldId id="269" r:id="rId6"/>
    <p:sldId id="265" r:id="rId7"/>
    <p:sldId id="283" r:id="rId8"/>
    <p:sldId id="268" r:id="rId9"/>
    <p:sldId id="282" r:id="rId10"/>
    <p:sldId id="270" r:id="rId11"/>
    <p:sldId id="271" r:id="rId12"/>
    <p:sldId id="272" r:id="rId13"/>
    <p:sldId id="273" r:id="rId14"/>
    <p:sldId id="284" r:id="rId15"/>
    <p:sldId id="274" r:id="rId16"/>
    <p:sldId id="275" r:id="rId17"/>
    <p:sldId id="276" r:id="rId18"/>
    <p:sldId id="281" r:id="rId19"/>
    <p:sldId id="277" r:id="rId20"/>
    <p:sldId id="267" r:id="rId21"/>
    <p:sldId id="278" r:id="rId22"/>
    <p:sldId id="279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9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9C2A8-E005-4CF5-9329-49FF71D2936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DBEF8-54C6-491C-92FF-B2F91405A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6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77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32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67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9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23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57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14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97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7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0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Department of Computer Science SS CASE IT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04/23/2026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D18AB-6717-40F4-A99B-6B3C2EDD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730446" y="6400800"/>
            <a:ext cx="33963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1188720" y="1689292"/>
            <a:ext cx="9814560" cy="1646502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Sign Language to Text Conversion System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188720" y="5462644"/>
            <a:ext cx="9442731" cy="100402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Hamid Ashfaq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Co-Supervisor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Abdur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Rehman</a:t>
            </a: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1423851" y="3337018"/>
            <a:ext cx="8796452" cy="16880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Ihtisham Khan (2230-0157)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Anas (2230-0091)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Danish Nasir (2230-0126)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3" name="Rectangle 2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dirty="0" smtClean="0"/>
              <a:t>04/23/2026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7903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730446" y="6400800"/>
            <a:ext cx="33963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1188720" y="1689292"/>
            <a:ext cx="4833257" cy="9144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658983" y="2947179"/>
            <a:ext cx="8138160" cy="273516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real-time automated sign language interpretation systems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limited in accuracy and accessibility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reliable, cost-effective, and user-friendly AI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converts sign gestures into text and speech</a:t>
            </a: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1188720" y="3373351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3" name="Rectangle 2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9796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730446" y="6400800"/>
            <a:ext cx="33963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1188719" y="1606608"/>
            <a:ext cx="5943600" cy="997084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STATMENT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658983" y="2947179"/>
            <a:ext cx="7955280" cy="268114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is the primary communication method for hearing-impaired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non-signers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interpretation is not always available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AI-based solution for automatic sign-to-text conversion</a:t>
            </a: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1188720" y="3373351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3" name="Rectangle 2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4206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1188719" y="1606608"/>
            <a:ext cx="5943600" cy="997084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658983" y="2947179"/>
            <a:ext cx="7955280" cy="268114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sign language gestures using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recognized signs into text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speech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using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user-friendly mobile interface</a:t>
            </a: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1188720" y="3373351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3" name="Rectangle 2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7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730446" y="6400800"/>
            <a:ext cx="33963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12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1188718" y="1149530"/>
            <a:ext cx="7454120" cy="1280161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DATASET PROBLEM 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658983" y="2947179"/>
            <a:ext cx="7955280" cy="2284234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 contained only 25–30 images per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could not learn discriminative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accuracy and incorrect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 a better data representation approach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1188720" y="3373351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3" name="Rectangle 2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7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730446" y="6400800"/>
            <a:ext cx="33963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58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1188719" y="1606608"/>
            <a:ext cx="5943600" cy="997084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658983" y="2947178"/>
            <a:ext cx="7380514" cy="2669851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 Landmark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extraction, Sign recognition, Sentence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 Camera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input, Live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display, Text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speech output</a:t>
            </a: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1188720" y="3373351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3" name="Rectangle 2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7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730446" y="6400800"/>
            <a:ext cx="33963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75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9" name="Rectangle 8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14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16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8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730446" y="6400800"/>
            <a:ext cx="33963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594359" y="1258668"/>
            <a:ext cx="9222379" cy="7517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SYSTEM ARCHITECTURE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5" r="8095"/>
          <a:stretch>
            <a:fillRect/>
          </a:stretch>
        </p:blipFill>
        <p:spPr>
          <a:xfrm>
            <a:off x="1372189" y="2131126"/>
            <a:ext cx="8542750" cy="4148938"/>
          </a:xfrm>
        </p:spPr>
      </p:pic>
    </p:spTree>
    <p:extLst>
      <p:ext uri="{BB962C8B-B14F-4D97-AF65-F5344CB8AC3E}">
        <p14:creationId xmlns:p14="http://schemas.microsoft.com/office/powerpoint/2010/main" val="343941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19526"/>
            <a:ext cx="4188241" cy="3732634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Layer: 147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Dense(256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Dropout(0.4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Dropout(0.3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Dense(64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(30 Classes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Categorical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Cross-Entropy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Stopping to prevent overfitting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9" name="Rectangle 8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14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16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8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730446" y="6400800"/>
            <a:ext cx="33963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594359" y="1258668"/>
            <a:ext cx="9222379" cy="7517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ARCHITECTURE</a:t>
            </a: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1" b="2191"/>
          <a:stretch>
            <a:fillRect/>
          </a:stretch>
        </p:blipFill>
        <p:spPr>
          <a:xfrm>
            <a:off x="5183188" y="2274888"/>
            <a:ext cx="6172200" cy="3586162"/>
          </a:xfrm>
        </p:spPr>
      </p:pic>
    </p:spTree>
    <p:extLst>
      <p:ext uri="{BB962C8B-B14F-4D97-AF65-F5344CB8AC3E}">
        <p14:creationId xmlns:p14="http://schemas.microsoft.com/office/powerpoint/2010/main" val="158373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1188718" y="1725732"/>
            <a:ext cx="6583681" cy="703959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658982" y="2947179"/>
            <a:ext cx="8281851" cy="307479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dataset collected using mobile and laptop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samples per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stored as 147 normalized landmark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to avoid bias</a:t>
            </a: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1188720" y="3373351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3" name="Rectangle 2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7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730446" y="6400800"/>
            <a:ext cx="33963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47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1188718" y="1725732"/>
            <a:ext cx="6583681" cy="703959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658983" y="2947179"/>
            <a:ext cx="8085908" cy="287741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landmarks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(hands + pose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landmark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incomplete/noisy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as 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 or CNN preprocessing</a:t>
            </a: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1188720" y="3373351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3" name="Rectangle 2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7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730446" y="6400800"/>
            <a:ext cx="33963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49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1188718" y="1725732"/>
            <a:ext cx="6583681" cy="703959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658983" y="2947179"/>
            <a:ext cx="7955280" cy="204283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80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to maintain class balance</a:t>
            </a: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1188720" y="3373351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3" name="Rectangle 2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7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534503" y="6400800"/>
            <a:ext cx="535577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62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1188718" y="1725732"/>
            <a:ext cx="6583681" cy="703959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658983" y="2947179"/>
            <a:ext cx="8595360" cy="287741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Fully Connected Neural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Categorical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Cross-Entropy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EarlyStopping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patience=5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monitored during training</a:t>
            </a: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1188720" y="3373351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3" name="Rectangle 2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7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25943" y="6400800"/>
            <a:ext cx="444137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77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704" y="1279525"/>
            <a:ext cx="9849394" cy="78081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EVALUTION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9" name="Rectangle 8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14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16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8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65131" y="6400800"/>
            <a:ext cx="404949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Content Placeholder 1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44" y="2150156"/>
            <a:ext cx="4938668" cy="3704001"/>
          </a:xfr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912" y="2150156"/>
            <a:ext cx="4915757" cy="368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14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1188718" y="1725732"/>
            <a:ext cx="7968345" cy="803436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Recognition Workflow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658983" y="2947179"/>
            <a:ext cx="8752114" cy="303561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captures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landmarks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147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fed to trained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gesture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builder + grammar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correction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1188720" y="3373351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3" name="Rectangle 2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7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25943" y="6400800"/>
            <a:ext cx="444137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96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21" name="Rectangle 20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26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4" name="Rectangle 23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28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30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25943" y="6400800"/>
            <a:ext cx="404948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594359" y="1325368"/>
            <a:ext cx="9646921" cy="8380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ANALYSIS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301" y="2163408"/>
            <a:ext cx="5589980" cy="4192485"/>
          </a:xfrm>
        </p:spPr>
      </p:pic>
    </p:spTree>
    <p:extLst>
      <p:ext uri="{BB962C8B-B14F-4D97-AF65-F5344CB8AC3E}">
        <p14:creationId xmlns:p14="http://schemas.microsoft.com/office/powerpoint/2010/main" val="2766913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580606"/>
            <a:ext cx="9061858" cy="794975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DEMONSTRATION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552699"/>
            <a:ext cx="5116875" cy="3485469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sign recognition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 from continuous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recognized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Stable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under normal lighting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9" name="Rectangle 8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14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16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8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65131" y="6400800"/>
            <a:ext cx="404949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316" y="2552699"/>
            <a:ext cx="4444365" cy="337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81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1453627"/>
            <a:ext cx="9061858" cy="794975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 MODEL OVERVIEW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552699"/>
            <a:ext cx="5116875" cy="3485469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independently using Flutter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 included: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Splash &amp; Authentication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Dashboard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Camera Screen (UI only)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 Screen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Module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focuses on usability and smooth navigation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9" name="Rectangle 8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14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16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8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65131" y="6400800"/>
            <a:ext cx="404949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964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619" y="1239346"/>
            <a:ext cx="7528855" cy="794975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 MODEL OVERVIEW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9" name="Rectangle 8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14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16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8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39006" y="6400800"/>
            <a:ext cx="43107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19" y="2174420"/>
            <a:ext cx="1892456" cy="405826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864" y="2170756"/>
            <a:ext cx="1892456" cy="40582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109" y="2170755"/>
            <a:ext cx="2026306" cy="40582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520" y="2170755"/>
            <a:ext cx="2125929" cy="4061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62126" y="2170755"/>
            <a:ext cx="1979734" cy="405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66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1453627"/>
            <a:ext cx="9061858" cy="794975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637352"/>
            <a:ext cx="9061858" cy="3485469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hand shapes caused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affect landmark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 issues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9" name="Rectangle 8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14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16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8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52069" y="6400800"/>
            <a:ext cx="418011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155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8" name="Rectangle 7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13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" name="Rectangle 10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15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8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65131" y="6426926"/>
            <a:ext cx="404949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64177" y="1242546"/>
            <a:ext cx="9490166" cy="8460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(Gantt Chart)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093" y="1960585"/>
            <a:ext cx="8073813" cy="4003040"/>
          </a:xfrm>
        </p:spPr>
      </p:pic>
    </p:spTree>
    <p:extLst>
      <p:ext uri="{BB962C8B-B14F-4D97-AF65-F5344CB8AC3E}">
        <p14:creationId xmlns:p14="http://schemas.microsoft.com/office/powerpoint/2010/main" val="229624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1453627"/>
            <a:ext cx="9061858" cy="794975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637352"/>
            <a:ext cx="9571310" cy="3485469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AI-based sign language recognition model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separate mobile UI for sign-to-text application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and UI were tested independently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demonstrates feasibility of AI-driven sign language recognition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9" name="Rectangle 8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14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16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8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25943" y="6400800"/>
            <a:ext cx="444137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289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1453627"/>
            <a:ext cx="9061858" cy="794975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637352"/>
            <a:ext cx="9571310" cy="3187245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for better accuracy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performance and robustness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more sign language gestures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 text-to-speech output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integration of AI model with UI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1" y="8"/>
            <a:ext cx="12192001" cy="6857992"/>
            <a:chOff x="-1" y="8"/>
            <a:chExt cx="12192001" cy="6857992"/>
          </a:xfrm>
        </p:grpSpPr>
        <p:sp>
          <p:nvSpPr>
            <p:cNvPr id="9" name="Rectangle 8"/>
            <p:cNvSpPr/>
            <p:nvPr/>
          </p:nvSpPr>
          <p:spPr>
            <a:xfrm>
              <a:off x="-1" y="723454"/>
              <a:ext cx="12192001" cy="4260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0" y="8"/>
              <a:ext cx="12192000" cy="6857992"/>
              <a:chOff x="0" y="1"/>
              <a:chExt cx="12192000" cy="685799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0" y="6511565"/>
                <a:ext cx="4950823" cy="346428"/>
                <a:chOff x="0" y="6505303"/>
                <a:chExt cx="4950823" cy="352697"/>
              </a:xfrm>
            </p:grpSpPr>
            <p:sp>
              <p:nvSpPr>
                <p:cNvPr id="14" name="Rectangle 8"/>
                <p:cNvSpPr/>
                <p:nvPr/>
              </p:nvSpPr>
              <p:spPr>
                <a:xfrm>
                  <a:off x="0" y="6505303"/>
                  <a:ext cx="4846320" cy="352697"/>
                </a:xfrm>
                <a:custGeom>
                  <a:avLst/>
                  <a:gdLst>
                    <a:gd name="connsiteX0" fmla="*/ 0 w 5556738"/>
                    <a:gd name="connsiteY0" fmla="*/ 0 h 471268"/>
                    <a:gd name="connsiteX1" fmla="*/ 5556738 w 5556738"/>
                    <a:gd name="connsiteY1" fmla="*/ 0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  <a:gd name="connsiteX0" fmla="*/ 0 w 5556738"/>
                    <a:gd name="connsiteY0" fmla="*/ 0 h 471268"/>
                    <a:gd name="connsiteX1" fmla="*/ 5275384 w 5556738"/>
                    <a:gd name="connsiteY1" fmla="*/ 14068 h 471268"/>
                    <a:gd name="connsiteX2" fmla="*/ 5556738 w 5556738"/>
                    <a:gd name="connsiteY2" fmla="*/ 471268 h 471268"/>
                    <a:gd name="connsiteX3" fmla="*/ 0 w 5556738"/>
                    <a:gd name="connsiteY3" fmla="*/ 471268 h 471268"/>
                    <a:gd name="connsiteX4" fmla="*/ 0 w 5556738"/>
                    <a:gd name="connsiteY4" fmla="*/ 0 h 471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56738" h="471268">
                      <a:moveTo>
                        <a:pt x="0" y="0"/>
                      </a:moveTo>
                      <a:lnTo>
                        <a:pt x="5275384" y="14068"/>
                      </a:lnTo>
                      <a:lnTo>
                        <a:pt x="5556738" y="471268"/>
                      </a:lnTo>
                      <a:lnTo>
                        <a:pt x="0" y="4712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0"/>
                <p:cNvSpPr/>
                <p:nvPr/>
              </p:nvSpPr>
              <p:spPr>
                <a:xfrm>
                  <a:off x="0" y="6596743"/>
                  <a:ext cx="4950823" cy="261256"/>
                </a:xfrm>
                <a:custGeom>
                  <a:avLst/>
                  <a:gdLst>
                    <a:gd name="connsiteX0" fmla="*/ 0 w 5682343"/>
                    <a:gd name="connsiteY0" fmla="*/ 0 h 300446"/>
                    <a:gd name="connsiteX1" fmla="*/ 5682343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1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473337 w 5682343"/>
                    <a:gd name="connsiteY1" fmla="*/ 0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39188 h 339634"/>
                    <a:gd name="connsiteX1" fmla="*/ 5499462 w 5682343"/>
                    <a:gd name="connsiteY1" fmla="*/ 0 h 339634"/>
                    <a:gd name="connsiteX2" fmla="*/ 5682343 w 5682343"/>
                    <a:gd name="connsiteY2" fmla="*/ 339634 h 339634"/>
                    <a:gd name="connsiteX3" fmla="*/ 0 w 5682343"/>
                    <a:gd name="connsiteY3" fmla="*/ 339634 h 339634"/>
                    <a:gd name="connsiteX4" fmla="*/ 0 w 5682343"/>
                    <a:gd name="connsiteY4" fmla="*/ 39188 h 339634"/>
                    <a:gd name="connsiteX0" fmla="*/ 0 w 5682343"/>
                    <a:gd name="connsiteY0" fmla="*/ 0 h 300446"/>
                    <a:gd name="connsiteX1" fmla="*/ 5525588 w 5682343"/>
                    <a:gd name="connsiteY1" fmla="*/ 39189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0 h 300446"/>
                    <a:gd name="connsiteX1" fmla="*/ 5538650 w 5682343"/>
                    <a:gd name="connsiteY1" fmla="*/ 13063 h 300446"/>
                    <a:gd name="connsiteX2" fmla="*/ 5682343 w 5682343"/>
                    <a:gd name="connsiteY2" fmla="*/ 300446 h 300446"/>
                    <a:gd name="connsiteX3" fmla="*/ 0 w 5682343"/>
                    <a:gd name="connsiteY3" fmla="*/ 300446 h 300446"/>
                    <a:gd name="connsiteX4" fmla="*/ 0 w 5682343"/>
                    <a:gd name="connsiteY4" fmla="*/ 0 h 300446"/>
                    <a:gd name="connsiteX0" fmla="*/ 0 w 5682343"/>
                    <a:gd name="connsiteY0" fmla="*/ 13063 h 313509"/>
                    <a:gd name="connsiteX1" fmla="*/ 5486398 w 5682343"/>
                    <a:gd name="connsiteY1" fmla="*/ 0 h 313509"/>
                    <a:gd name="connsiteX2" fmla="*/ 5682343 w 5682343"/>
                    <a:gd name="connsiteY2" fmla="*/ 313509 h 313509"/>
                    <a:gd name="connsiteX3" fmla="*/ 0 w 5682343"/>
                    <a:gd name="connsiteY3" fmla="*/ 313509 h 313509"/>
                    <a:gd name="connsiteX4" fmla="*/ 0 w 5682343"/>
                    <a:gd name="connsiteY4" fmla="*/ 13063 h 313509"/>
                    <a:gd name="connsiteX0" fmla="*/ 0 w 5682343"/>
                    <a:gd name="connsiteY0" fmla="*/ 1 h 300447"/>
                    <a:gd name="connsiteX1" fmla="*/ 5512524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  <a:gd name="connsiteX0" fmla="*/ 0 w 5682343"/>
                    <a:gd name="connsiteY0" fmla="*/ 1 h 300447"/>
                    <a:gd name="connsiteX1" fmla="*/ 5473781 w 5682343"/>
                    <a:gd name="connsiteY1" fmla="*/ 0 h 300447"/>
                    <a:gd name="connsiteX2" fmla="*/ 5682343 w 5682343"/>
                    <a:gd name="connsiteY2" fmla="*/ 300447 h 300447"/>
                    <a:gd name="connsiteX3" fmla="*/ 0 w 5682343"/>
                    <a:gd name="connsiteY3" fmla="*/ 300447 h 300447"/>
                    <a:gd name="connsiteX4" fmla="*/ 0 w 5682343"/>
                    <a:gd name="connsiteY4" fmla="*/ 1 h 30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82343" h="300447">
                      <a:moveTo>
                        <a:pt x="0" y="1"/>
                      </a:moveTo>
                      <a:lnTo>
                        <a:pt x="5473781" y="0"/>
                      </a:lnTo>
                      <a:lnTo>
                        <a:pt x="5682343" y="300447"/>
                      </a:lnTo>
                      <a:lnTo>
                        <a:pt x="0" y="30044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10411097" y="1"/>
                <a:ext cx="1780903" cy="1725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1097" y="33265"/>
                <a:ext cx="1780903" cy="1692461"/>
              </a:xfrm>
              <a:prstGeom prst="rect">
                <a:avLst/>
              </a:prstGeom>
            </p:spPr>
          </p:pic>
        </p:grpSp>
      </p:grpSp>
      <p:sp>
        <p:nvSpPr>
          <p:cNvPr id="16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379362" y="6400800"/>
            <a:ext cx="2063469" cy="365125"/>
          </a:xfrm>
        </p:spPr>
        <p:txBody>
          <a:bodyPr/>
          <a:lstStyle/>
          <a:p>
            <a:r>
              <a:rPr lang="en-US" sz="1400" b="1" smtClean="0"/>
              <a:t>04/23/2026</a:t>
            </a:r>
            <a:endParaRPr lang="en-US" sz="1400" b="1" dirty="0"/>
          </a:p>
        </p:txBody>
      </p:sp>
      <p:sp>
        <p:nvSpPr>
          <p:cNvPr id="18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39006" y="6400800"/>
            <a:ext cx="431074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299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0" y="0"/>
            <a:ext cx="12192000" cy="6858001"/>
            <a:chOff x="0" y="-1"/>
            <a:chExt cx="12192000" cy="6858001"/>
          </a:xfrm>
        </p:grpSpPr>
        <p:grpSp>
          <p:nvGrpSpPr>
            <p:cNvPr id="33" name="Group 32"/>
            <p:cNvGrpSpPr/>
            <p:nvPr/>
          </p:nvGrpSpPr>
          <p:grpSpPr>
            <a:xfrm>
              <a:off x="0" y="-1"/>
              <a:ext cx="12192000" cy="6858001"/>
              <a:chOff x="0" y="-124097"/>
              <a:chExt cx="12192000" cy="6982097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0" y="-124097"/>
                <a:ext cx="12192000" cy="175695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8"/>
              <p:cNvSpPr/>
              <p:nvPr/>
            </p:nvSpPr>
            <p:spPr>
              <a:xfrm>
                <a:off x="0" y="6505303"/>
                <a:ext cx="4846320" cy="352697"/>
              </a:xfrm>
              <a:custGeom>
                <a:avLst/>
                <a:gdLst>
                  <a:gd name="connsiteX0" fmla="*/ 0 w 5556738"/>
                  <a:gd name="connsiteY0" fmla="*/ 0 h 471268"/>
                  <a:gd name="connsiteX1" fmla="*/ 5556738 w 5556738"/>
                  <a:gd name="connsiteY1" fmla="*/ 0 h 471268"/>
                  <a:gd name="connsiteX2" fmla="*/ 5556738 w 5556738"/>
                  <a:gd name="connsiteY2" fmla="*/ 471268 h 471268"/>
                  <a:gd name="connsiteX3" fmla="*/ 0 w 5556738"/>
                  <a:gd name="connsiteY3" fmla="*/ 471268 h 471268"/>
                  <a:gd name="connsiteX4" fmla="*/ 0 w 5556738"/>
                  <a:gd name="connsiteY4" fmla="*/ 0 h 471268"/>
                  <a:gd name="connsiteX0" fmla="*/ 0 w 5556738"/>
                  <a:gd name="connsiteY0" fmla="*/ 0 h 471268"/>
                  <a:gd name="connsiteX1" fmla="*/ 5275384 w 5556738"/>
                  <a:gd name="connsiteY1" fmla="*/ 14068 h 471268"/>
                  <a:gd name="connsiteX2" fmla="*/ 5556738 w 5556738"/>
                  <a:gd name="connsiteY2" fmla="*/ 471268 h 471268"/>
                  <a:gd name="connsiteX3" fmla="*/ 0 w 5556738"/>
                  <a:gd name="connsiteY3" fmla="*/ 471268 h 471268"/>
                  <a:gd name="connsiteX4" fmla="*/ 0 w 5556738"/>
                  <a:gd name="connsiteY4" fmla="*/ 0 h 471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56738" h="471268">
                    <a:moveTo>
                      <a:pt x="0" y="0"/>
                    </a:moveTo>
                    <a:lnTo>
                      <a:pt x="5275384" y="14068"/>
                    </a:lnTo>
                    <a:lnTo>
                      <a:pt x="5556738" y="471268"/>
                    </a:lnTo>
                    <a:lnTo>
                      <a:pt x="0" y="471268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10"/>
              <p:cNvSpPr/>
              <p:nvPr/>
            </p:nvSpPr>
            <p:spPr>
              <a:xfrm>
                <a:off x="0" y="6596743"/>
                <a:ext cx="4950823" cy="261256"/>
              </a:xfrm>
              <a:custGeom>
                <a:avLst/>
                <a:gdLst>
                  <a:gd name="connsiteX0" fmla="*/ 0 w 5682343"/>
                  <a:gd name="connsiteY0" fmla="*/ 0 h 300446"/>
                  <a:gd name="connsiteX1" fmla="*/ 5682343 w 5682343"/>
                  <a:gd name="connsiteY1" fmla="*/ 0 h 300446"/>
                  <a:gd name="connsiteX2" fmla="*/ 5682343 w 5682343"/>
                  <a:gd name="connsiteY2" fmla="*/ 300446 h 300446"/>
                  <a:gd name="connsiteX3" fmla="*/ 0 w 5682343"/>
                  <a:gd name="connsiteY3" fmla="*/ 300446 h 300446"/>
                  <a:gd name="connsiteX4" fmla="*/ 0 w 5682343"/>
                  <a:gd name="connsiteY4" fmla="*/ 0 h 300446"/>
                  <a:gd name="connsiteX0" fmla="*/ 0 w 5682343"/>
                  <a:gd name="connsiteY0" fmla="*/ 0 h 300446"/>
                  <a:gd name="connsiteX1" fmla="*/ 5538651 w 5682343"/>
                  <a:gd name="connsiteY1" fmla="*/ 0 h 300446"/>
                  <a:gd name="connsiteX2" fmla="*/ 5682343 w 5682343"/>
                  <a:gd name="connsiteY2" fmla="*/ 300446 h 300446"/>
                  <a:gd name="connsiteX3" fmla="*/ 0 w 5682343"/>
                  <a:gd name="connsiteY3" fmla="*/ 300446 h 300446"/>
                  <a:gd name="connsiteX4" fmla="*/ 0 w 5682343"/>
                  <a:gd name="connsiteY4" fmla="*/ 0 h 300446"/>
                  <a:gd name="connsiteX0" fmla="*/ 0 w 5682343"/>
                  <a:gd name="connsiteY0" fmla="*/ 0 h 300446"/>
                  <a:gd name="connsiteX1" fmla="*/ 5473337 w 5682343"/>
                  <a:gd name="connsiteY1" fmla="*/ 0 h 300446"/>
                  <a:gd name="connsiteX2" fmla="*/ 5682343 w 5682343"/>
                  <a:gd name="connsiteY2" fmla="*/ 300446 h 300446"/>
                  <a:gd name="connsiteX3" fmla="*/ 0 w 5682343"/>
                  <a:gd name="connsiteY3" fmla="*/ 300446 h 300446"/>
                  <a:gd name="connsiteX4" fmla="*/ 0 w 5682343"/>
                  <a:gd name="connsiteY4" fmla="*/ 0 h 300446"/>
                  <a:gd name="connsiteX0" fmla="*/ 0 w 5682343"/>
                  <a:gd name="connsiteY0" fmla="*/ 39188 h 339634"/>
                  <a:gd name="connsiteX1" fmla="*/ 5499462 w 5682343"/>
                  <a:gd name="connsiteY1" fmla="*/ 0 h 339634"/>
                  <a:gd name="connsiteX2" fmla="*/ 5682343 w 5682343"/>
                  <a:gd name="connsiteY2" fmla="*/ 339634 h 339634"/>
                  <a:gd name="connsiteX3" fmla="*/ 0 w 5682343"/>
                  <a:gd name="connsiteY3" fmla="*/ 339634 h 339634"/>
                  <a:gd name="connsiteX4" fmla="*/ 0 w 5682343"/>
                  <a:gd name="connsiteY4" fmla="*/ 39188 h 339634"/>
                  <a:gd name="connsiteX0" fmla="*/ 0 w 5682343"/>
                  <a:gd name="connsiteY0" fmla="*/ 0 h 300446"/>
                  <a:gd name="connsiteX1" fmla="*/ 5525588 w 5682343"/>
                  <a:gd name="connsiteY1" fmla="*/ 39189 h 300446"/>
                  <a:gd name="connsiteX2" fmla="*/ 5682343 w 5682343"/>
                  <a:gd name="connsiteY2" fmla="*/ 300446 h 300446"/>
                  <a:gd name="connsiteX3" fmla="*/ 0 w 5682343"/>
                  <a:gd name="connsiteY3" fmla="*/ 300446 h 300446"/>
                  <a:gd name="connsiteX4" fmla="*/ 0 w 5682343"/>
                  <a:gd name="connsiteY4" fmla="*/ 0 h 300446"/>
                  <a:gd name="connsiteX0" fmla="*/ 0 w 5682343"/>
                  <a:gd name="connsiteY0" fmla="*/ 0 h 300446"/>
                  <a:gd name="connsiteX1" fmla="*/ 5538650 w 5682343"/>
                  <a:gd name="connsiteY1" fmla="*/ 13063 h 300446"/>
                  <a:gd name="connsiteX2" fmla="*/ 5682343 w 5682343"/>
                  <a:gd name="connsiteY2" fmla="*/ 300446 h 300446"/>
                  <a:gd name="connsiteX3" fmla="*/ 0 w 5682343"/>
                  <a:gd name="connsiteY3" fmla="*/ 300446 h 300446"/>
                  <a:gd name="connsiteX4" fmla="*/ 0 w 5682343"/>
                  <a:gd name="connsiteY4" fmla="*/ 0 h 300446"/>
                  <a:gd name="connsiteX0" fmla="*/ 0 w 5682343"/>
                  <a:gd name="connsiteY0" fmla="*/ 13063 h 313509"/>
                  <a:gd name="connsiteX1" fmla="*/ 5486398 w 5682343"/>
                  <a:gd name="connsiteY1" fmla="*/ 0 h 313509"/>
                  <a:gd name="connsiteX2" fmla="*/ 5682343 w 5682343"/>
                  <a:gd name="connsiteY2" fmla="*/ 313509 h 313509"/>
                  <a:gd name="connsiteX3" fmla="*/ 0 w 5682343"/>
                  <a:gd name="connsiteY3" fmla="*/ 313509 h 313509"/>
                  <a:gd name="connsiteX4" fmla="*/ 0 w 5682343"/>
                  <a:gd name="connsiteY4" fmla="*/ 13063 h 313509"/>
                  <a:gd name="connsiteX0" fmla="*/ 0 w 5682343"/>
                  <a:gd name="connsiteY0" fmla="*/ 1 h 300447"/>
                  <a:gd name="connsiteX1" fmla="*/ 5512524 w 5682343"/>
                  <a:gd name="connsiteY1" fmla="*/ 0 h 300447"/>
                  <a:gd name="connsiteX2" fmla="*/ 5682343 w 5682343"/>
                  <a:gd name="connsiteY2" fmla="*/ 300447 h 300447"/>
                  <a:gd name="connsiteX3" fmla="*/ 0 w 5682343"/>
                  <a:gd name="connsiteY3" fmla="*/ 300447 h 300447"/>
                  <a:gd name="connsiteX4" fmla="*/ 0 w 5682343"/>
                  <a:gd name="connsiteY4" fmla="*/ 1 h 300447"/>
                  <a:gd name="connsiteX0" fmla="*/ 0 w 5682343"/>
                  <a:gd name="connsiteY0" fmla="*/ 1 h 300447"/>
                  <a:gd name="connsiteX1" fmla="*/ 5473781 w 5682343"/>
                  <a:gd name="connsiteY1" fmla="*/ 0 h 300447"/>
                  <a:gd name="connsiteX2" fmla="*/ 5682343 w 5682343"/>
                  <a:gd name="connsiteY2" fmla="*/ 300447 h 300447"/>
                  <a:gd name="connsiteX3" fmla="*/ 0 w 5682343"/>
                  <a:gd name="connsiteY3" fmla="*/ 300447 h 300447"/>
                  <a:gd name="connsiteX4" fmla="*/ 0 w 5682343"/>
                  <a:gd name="connsiteY4" fmla="*/ 1 h 300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82343" h="300447">
                    <a:moveTo>
                      <a:pt x="0" y="1"/>
                    </a:moveTo>
                    <a:lnTo>
                      <a:pt x="5473781" y="0"/>
                    </a:lnTo>
                    <a:lnTo>
                      <a:pt x="5682343" y="300447"/>
                    </a:lnTo>
                    <a:lnTo>
                      <a:pt x="0" y="30044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Rectangle 33"/>
            <p:cNvSpPr/>
            <p:nvPr/>
          </p:nvSpPr>
          <p:spPr>
            <a:xfrm>
              <a:off x="10411097" y="1"/>
              <a:ext cx="1780903" cy="17257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1097" y="33265"/>
              <a:ext cx="1780903" cy="1692461"/>
            </a:xfrm>
            <a:prstGeom prst="rect">
              <a:avLst/>
            </a:prstGeom>
          </p:spPr>
        </p:pic>
      </p:grpSp>
      <p:sp>
        <p:nvSpPr>
          <p:cNvPr id="39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1665131" y="6400800"/>
            <a:ext cx="404949" cy="424542"/>
          </a:xfrm>
        </p:spPr>
        <p:txBody>
          <a:bodyPr/>
          <a:lstStyle/>
          <a:p>
            <a:fld id="{19ED18AB-6717-40F4-A99B-6B3C2EDD3D1D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ooter Placeholder 22"/>
          <p:cNvSpPr>
            <a:spLocks noGrp="1"/>
          </p:cNvSpPr>
          <p:nvPr>
            <p:ph type="ftr" sz="quarter" idx="11"/>
          </p:nvPr>
        </p:nvSpPr>
        <p:spPr>
          <a:xfrm>
            <a:off x="9772859" y="6400800"/>
            <a:ext cx="1790281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04/23/2026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Date Placeholder 23"/>
          <p:cNvSpPr>
            <a:spLocks noGrp="1"/>
          </p:cNvSpPr>
          <p:nvPr>
            <p:ph type="dt" sz="half" idx="10"/>
          </p:nvPr>
        </p:nvSpPr>
        <p:spPr>
          <a:xfrm>
            <a:off x="5028029" y="6400800"/>
            <a:ext cx="3735977" cy="457199"/>
          </a:xfrm>
        </p:spPr>
        <p:txBody>
          <a:bodyPr/>
          <a:lstStyle/>
          <a:p>
            <a:r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SS CASE IT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itle 5"/>
          <p:cNvSpPr txBox="1">
            <a:spLocks/>
          </p:cNvSpPr>
          <p:nvPr/>
        </p:nvSpPr>
        <p:spPr>
          <a:xfrm>
            <a:off x="1407886" y="2365829"/>
            <a:ext cx="9144000" cy="28593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751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3340</TotalTime>
  <Words>717</Words>
  <Application>Microsoft Office PowerPoint</Application>
  <PresentationFormat>Widescreen</PresentationFormat>
  <Paragraphs>174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Office Theme</vt:lpstr>
      <vt:lpstr>AI-Based Sign Language to Text Conversion System</vt:lpstr>
      <vt:lpstr>INTRODUCTION</vt:lpstr>
      <vt:lpstr>PROBLEM STATMENT</vt:lpstr>
      <vt:lpstr>OBJECTIVES</vt:lpstr>
      <vt:lpstr>INITIAL DATASET PROBLEM </vt:lpstr>
      <vt:lpstr>SYSTEM OVERVIEW</vt:lpstr>
      <vt:lpstr>PowerPoint Presentation</vt:lpstr>
      <vt:lpstr>PowerPoint Presentation</vt:lpstr>
      <vt:lpstr>DATASET DESCRIPTION</vt:lpstr>
      <vt:lpstr>DATA PROCESSING</vt:lpstr>
      <vt:lpstr>DATASET SPLIT</vt:lpstr>
      <vt:lpstr>TRAINING PROCESS</vt:lpstr>
      <vt:lpstr>MODEL PERFORMANCE EVALUTION</vt:lpstr>
      <vt:lpstr>Real-Time Recognition Workflow</vt:lpstr>
      <vt:lpstr>PowerPoint Presentation</vt:lpstr>
      <vt:lpstr>RESULT AND DEMONSTRATION</vt:lpstr>
      <vt:lpstr>UI MODEL OVERVIEW</vt:lpstr>
      <vt:lpstr>UI MODEL OVERVIEW</vt:lpstr>
      <vt:lpstr>CHALLENGES FACED</vt:lpstr>
      <vt:lpstr>PowerPoint Presentation</vt:lpstr>
      <vt:lpstr> CONCLUSION</vt:lpstr>
      <vt:lpstr>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</dc:creator>
  <cp:lastModifiedBy>Muhammad Danish Nasir</cp:lastModifiedBy>
  <cp:revision>165</cp:revision>
  <dcterms:created xsi:type="dcterms:W3CDTF">2025-10-22T15:49:14Z</dcterms:created>
  <dcterms:modified xsi:type="dcterms:W3CDTF">2026-04-22T15:02:14Z</dcterms:modified>
</cp:coreProperties>
</file>